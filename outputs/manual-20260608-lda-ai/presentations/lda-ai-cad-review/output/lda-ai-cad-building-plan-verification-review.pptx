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2410d247e47445f" /><Relationship Type="http://schemas.openxmlformats.org/officeDocument/2006/relationships/extended-properties" Target="/docProps/app.xml" Id="R689bb0722ca14bc9" /><Relationship Type="http://schemas.openxmlformats.org/officeDocument/2006/relationships/officeDocument" Target="/ppt/presentation.xml" Id="R8e1fd8c02e1948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2c42b1a14a343c2"/>
  </p:sldMasterIdLst>
  <p:notesMasterIdLst>
    <p:notesMasterId xmlns:r="http://schemas.openxmlformats.org/officeDocument/2006/relationships" r:id="R534f26fd527e4612"/>
  </p:notesMasterIdLst>
  <p:sldIdLst>
    <p:sldId xmlns:r="http://schemas.openxmlformats.org/officeDocument/2006/relationships" id="256" r:id="R97497562a71f4874"/>
    <p:sldId xmlns:r="http://schemas.openxmlformats.org/officeDocument/2006/relationships" id="257" r:id="R4578ed91f05b4850"/>
    <p:sldId xmlns:r="http://schemas.openxmlformats.org/officeDocument/2006/relationships" id="258" r:id="R523f43228b094fc1"/>
    <p:sldId xmlns:r="http://schemas.openxmlformats.org/officeDocument/2006/relationships" id="259" r:id="R34731e02cee341ef"/>
    <p:sldId xmlns:r="http://schemas.openxmlformats.org/officeDocument/2006/relationships" id="260" r:id="Red84ae659318462a"/>
    <p:sldId xmlns:r="http://schemas.openxmlformats.org/officeDocument/2006/relationships" id="261" r:id="Rf0a23745333e4f4e"/>
    <p:sldId xmlns:r="http://schemas.openxmlformats.org/officeDocument/2006/relationships" id="262" r:id="R26b4fffdb923409a"/>
    <p:sldId xmlns:r="http://schemas.openxmlformats.org/officeDocument/2006/relationships" id="263" r:id="R4c8c6ce53cf04298"/>
    <p:sldId xmlns:r="http://schemas.openxmlformats.org/officeDocument/2006/relationships" id="264" r:id="Rc0d6541f98b0480e"/>
    <p:sldId xmlns:r="http://schemas.openxmlformats.org/officeDocument/2006/relationships" id="265" r:id="Re0828bb8da274e6f"/>
    <p:sldId xmlns:r="http://schemas.openxmlformats.org/officeDocument/2006/relationships" id="266" r:id="R1c04858bb80b4e0a"/>
    <p:sldId xmlns:r="http://schemas.openxmlformats.org/officeDocument/2006/relationships" id="267" r:id="Rd327990f59434103"/>
    <p:sldId xmlns:r="http://schemas.openxmlformats.org/officeDocument/2006/relationships" id="268" r:id="R605c42f2c430497f"/>
    <p:sldId xmlns:r="http://schemas.openxmlformats.org/officeDocument/2006/relationships" id="269" r:id="R987efe15dffc4c72"/>
    <p:sldId xmlns:r="http://schemas.openxmlformats.org/officeDocument/2006/relationships" id="270" r:id="R6c358ac7f1ae4c88"/>
    <p:sldId xmlns:r="http://schemas.openxmlformats.org/officeDocument/2006/relationships" id="271" r:id="R950fe2f79ff54d86"/>
    <p:sldId xmlns:r="http://schemas.openxmlformats.org/officeDocument/2006/relationships" id="272" r:id="R3aec153006974bdb"/>
    <p:sldId xmlns:r="http://schemas.openxmlformats.org/officeDocument/2006/relationships" id="273" r:id="Ra144a81f70a7493e"/>
    <p:sldId xmlns:r="http://schemas.openxmlformats.org/officeDocument/2006/relationships" id="274" r:id="R2f75bb624add4943"/>
    <p:sldId xmlns:r="http://schemas.openxmlformats.org/officeDocument/2006/relationships" id="275" r:id="R03d6bd512a4b4f77"/>
    <p:sldId xmlns:r="http://schemas.openxmlformats.org/officeDocument/2006/relationships" id="276" r:id="R7eedacba6d9c4626"/>
    <p:sldId xmlns:r="http://schemas.openxmlformats.org/officeDocument/2006/relationships" id="277" r:id="Ra89b87d2187149a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185277b84c54886" /><Relationship Type="http://schemas.openxmlformats.org/officeDocument/2006/relationships/slideMaster" Target="/ppt/slideMasters/slideMaster1.xml" Id="Rc2c42b1a14a343c2" /><Relationship Type="http://schemas.openxmlformats.org/officeDocument/2006/relationships/notesMaster" Target="/ppt/notesMasters/notesMaster1.xml" Id="R534f26fd527e4612" /><Relationship Type="http://schemas.openxmlformats.org/officeDocument/2006/relationships/presProps" Target="/ppt/presProps.xml" Id="R850869fec69b4ad1" /><Relationship Type="http://schemas.openxmlformats.org/officeDocument/2006/relationships/viewProps" Target="/ppt/viewProps.xml" Id="R0d57d99523284848" /><Relationship Type="http://schemas.openxmlformats.org/officeDocument/2006/relationships/tableStyles" Target="/ppt/tableStyles.xml" Id="R4185e37b1b084825" /><Relationship Type="http://schemas.openxmlformats.org/officeDocument/2006/relationships/slide" Target="/ppt/slides/slide1.xml" Id="R97497562a71f4874" /><Relationship Type="http://schemas.openxmlformats.org/officeDocument/2006/relationships/slide" Target="/ppt/slides/slide2.xml" Id="R4578ed91f05b4850" /><Relationship Type="http://schemas.openxmlformats.org/officeDocument/2006/relationships/slide" Target="/ppt/slides/slide3.xml" Id="R523f43228b094fc1" /><Relationship Type="http://schemas.openxmlformats.org/officeDocument/2006/relationships/slide" Target="/ppt/slides/slide4.xml" Id="R34731e02cee341ef" /><Relationship Type="http://schemas.openxmlformats.org/officeDocument/2006/relationships/slide" Target="/ppt/slides/slide5.xml" Id="Red84ae659318462a" /><Relationship Type="http://schemas.openxmlformats.org/officeDocument/2006/relationships/slide" Target="/ppt/slides/slide6.xml" Id="Rf0a23745333e4f4e" /><Relationship Type="http://schemas.openxmlformats.org/officeDocument/2006/relationships/slide" Target="/ppt/slides/slide7.xml" Id="R26b4fffdb923409a" /><Relationship Type="http://schemas.openxmlformats.org/officeDocument/2006/relationships/slide" Target="/ppt/slides/slide8.xml" Id="R4c8c6ce53cf04298" /><Relationship Type="http://schemas.openxmlformats.org/officeDocument/2006/relationships/slide" Target="/ppt/slides/slide9.xml" Id="Rc0d6541f98b0480e" /><Relationship Type="http://schemas.openxmlformats.org/officeDocument/2006/relationships/slide" Target="/ppt/slides/slide10.xml" Id="Re0828bb8da274e6f" /><Relationship Type="http://schemas.openxmlformats.org/officeDocument/2006/relationships/slide" Target="/ppt/slides/slide11.xml" Id="R1c04858bb80b4e0a" /><Relationship Type="http://schemas.openxmlformats.org/officeDocument/2006/relationships/slide" Target="/ppt/slides/slide12.xml" Id="Rd327990f59434103" /><Relationship Type="http://schemas.openxmlformats.org/officeDocument/2006/relationships/slide" Target="/ppt/slides/slide13.xml" Id="R605c42f2c430497f" /><Relationship Type="http://schemas.openxmlformats.org/officeDocument/2006/relationships/slide" Target="/ppt/slides/slide14.xml" Id="R987efe15dffc4c72" /><Relationship Type="http://schemas.openxmlformats.org/officeDocument/2006/relationships/slide" Target="/ppt/slides/slide15.xml" Id="R6c358ac7f1ae4c88" /><Relationship Type="http://schemas.openxmlformats.org/officeDocument/2006/relationships/slide" Target="/ppt/slides/slide16.xml" Id="R950fe2f79ff54d86" /><Relationship Type="http://schemas.openxmlformats.org/officeDocument/2006/relationships/slide" Target="/ppt/slides/slide17.xml" Id="R3aec153006974bdb" /><Relationship Type="http://schemas.openxmlformats.org/officeDocument/2006/relationships/slide" Target="/ppt/slides/slide18.xml" Id="Ra144a81f70a7493e" /><Relationship Type="http://schemas.openxmlformats.org/officeDocument/2006/relationships/slide" Target="/ppt/slides/slide19.xml" Id="R2f75bb624add4943" /><Relationship Type="http://schemas.openxmlformats.org/officeDocument/2006/relationships/slide" Target="/ppt/slides/slide20.xml" Id="R03d6bd512a4b4f77" /><Relationship Type="http://schemas.openxmlformats.org/officeDocument/2006/relationships/slide" Target="/ppt/slides/slide21.xml" Id="R7eedacba6d9c4626" /><Relationship Type="http://schemas.openxmlformats.org/officeDocument/2006/relationships/slide" Target="/ppt/slides/slide22.xml" Id="Ra89b87d2187149a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271ee15b5e489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1bfbc5053764e8f" /><Relationship Type="http://schemas.openxmlformats.org/officeDocument/2006/relationships/notesMaster" Target="/ppt/notesMasters/notesMaster1.xml" Id="Rb47b38d92bfb442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47cf03240bf4834" /><Relationship Type="http://schemas.openxmlformats.org/officeDocument/2006/relationships/notesMaster" Target="/ppt/notesMasters/notesMaster1.xml" Id="R0a156e664669490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d30ac2ee7254b9e" /><Relationship Type="http://schemas.openxmlformats.org/officeDocument/2006/relationships/notesMaster" Target="/ppt/notesMasters/notesMaster1.xml" Id="Rd154282eac60442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7bb2f180862409a" /><Relationship Type="http://schemas.openxmlformats.org/officeDocument/2006/relationships/notesMaster" Target="/ppt/notesMasters/notesMaster1.xml" Id="Rb09083c0924c4d7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163cf7aa2684e13" /><Relationship Type="http://schemas.openxmlformats.org/officeDocument/2006/relationships/notesMaster" Target="/ppt/notesMasters/notesMaster1.xml" Id="Rafd360d70d74461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0e0b1f0a51f45cc" /><Relationship Type="http://schemas.openxmlformats.org/officeDocument/2006/relationships/notesMaster" Target="/ppt/notesMasters/notesMaster1.xml" Id="R3600e799c80145a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3238a877554bd1" /><Relationship Type="http://schemas.openxmlformats.org/officeDocument/2006/relationships/notesMaster" Target="/ppt/notesMasters/notesMaster1.xml" Id="R852eaf435446465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5c0b8317bae4b39" /><Relationship Type="http://schemas.openxmlformats.org/officeDocument/2006/relationships/notesMaster" Target="/ppt/notesMasters/notesMaster1.xml" Id="R55755a97fdc24dc7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4cb78cc58fb45dc" /><Relationship Type="http://schemas.openxmlformats.org/officeDocument/2006/relationships/notesMaster" Target="/ppt/notesMasters/notesMaster1.xml" Id="R87be2c40f80a4bd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efe8085c4b04e17" /><Relationship Type="http://schemas.openxmlformats.org/officeDocument/2006/relationships/notesMaster" Target="/ppt/notesMasters/notesMaster1.xml" Id="Rc7102b8fa14d4707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a01cde2ce0f94d4e" /><Relationship Type="http://schemas.openxmlformats.org/officeDocument/2006/relationships/notesMaster" Target="/ppt/notesMasters/notesMaster1.xml" Id="Rcd42eb860394497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def62ef324847f0" /><Relationship Type="http://schemas.openxmlformats.org/officeDocument/2006/relationships/notesMaster" Target="/ppt/notesMasters/notesMaster1.xml" Id="Rac1517acff3c44ba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e3bf09b3bbe4131" /><Relationship Type="http://schemas.openxmlformats.org/officeDocument/2006/relationships/notesMaster" Target="/ppt/notesMasters/notesMaster1.xml" Id="R1938b29e9b0d4145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6baab22cf844c84" /><Relationship Type="http://schemas.openxmlformats.org/officeDocument/2006/relationships/notesMaster" Target="/ppt/notesMasters/notesMaster1.xml" Id="R925a8669019348d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2ccecb3292a4cb6" /><Relationship Type="http://schemas.openxmlformats.org/officeDocument/2006/relationships/notesMaster" Target="/ppt/notesMasters/notesMaster1.xml" Id="R0e32ce48ec3a4410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05ac8bec96834041" /><Relationship Type="http://schemas.openxmlformats.org/officeDocument/2006/relationships/notesMaster" Target="/ppt/notesMasters/notesMaster1.xml" Id="R1d8a94be9286458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7ffa66657d3746b2" /><Relationship Type="http://schemas.openxmlformats.org/officeDocument/2006/relationships/notesMaster" Target="/ppt/notesMasters/notesMaster1.xml" Id="R8918801424d24304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a674d6338944836" /><Relationship Type="http://schemas.openxmlformats.org/officeDocument/2006/relationships/notesMaster" Target="/ppt/notesMasters/notesMaster1.xml" Id="Rcbc0a5b803aa429a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3bfd2bff25a4f1c" /><Relationship Type="http://schemas.openxmlformats.org/officeDocument/2006/relationships/notesMaster" Target="/ppt/notesMasters/notesMaster1.xml" Id="Ra59d80ce27394ca2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d877bb0120ec4ad8" /><Relationship Type="http://schemas.openxmlformats.org/officeDocument/2006/relationships/notesMaster" Target="/ppt/notesMasters/notesMaster1.xml" Id="R4f8a0a2c73434179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66aec2d07a884b64" /><Relationship Type="http://schemas.openxmlformats.org/officeDocument/2006/relationships/notesMaster" Target="/ppt/notesMasters/notesMaster1.xml" Id="Reb257186e5eb4889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940e43e0461c4a6a" /><Relationship Type="http://schemas.openxmlformats.org/officeDocument/2006/relationships/notesMaster" Target="/ppt/notesMasters/notesMaster1.xml" Id="Raa2fa68db2874a8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b4f26143a14b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02aea92ae81453b" /><Relationship Type="http://schemas.openxmlformats.org/officeDocument/2006/relationships/slideLayout" Target="/ppt/slideLayouts/slideLayout1.xml" Id="R8322c3a6e4744b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322c3a6e4744b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606270f75f4b61" /><Relationship Type="http://schemas.openxmlformats.org/officeDocument/2006/relationships/notesSlide" Target="/ppt/notesSlides/notesSlide1.xml" Id="Ra0c6f117e6dc428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74d83a57a54a6b" /><Relationship Type="http://schemas.openxmlformats.org/officeDocument/2006/relationships/notesSlide" Target="/ppt/notesSlides/notesSlide2.xml" Id="R3f34019a8bb140f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e2f885cb9148bf" /><Relationship Type="http://schemas.openxmlformats.org/officeDocument/2006/relationships/notesSlide" Target="/ppt/notesSlides/notesSlide3.xml" Id="R091064fea73f4ba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71b7d22ff7432e" /><Relationship Type="http://schemas.openxmlformats.org/officeDocument/2006/relationships/notesSlide" Target="/ppt/notesSlides/notesSlide4.xml" Id="R62f34375b6b7405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b86f33ba794ff2" /><Relationship Type="http://schemas.openxmlformats.org/officeDocument/2006/relationships/notesSlide" Target="/ppt/notesSlides/notesSlide5.xml" Id="R9623b19b0446420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75f6bd67e2a4bd5" /><Relationship Type="http://schemas.openxmlformats.org/officeDocument/2006/relationships/notesSlide" Target="/ppt/notesSlides/notesSlide6.xml" Id="Rfbb4123e365b4f4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93c8634652461a" /><Relationship Type="http://schemas.openxmlformats.org/officeDocument/2006/relationships/notesSlide" Target="/ppt/notesSlides/notesSlide7.xml" Id="Rfcaee916acd94e2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ba3bb11cf549d1" /><Relationship Type="http://schemas.openxmlformats.org/officeDocument/2006/relationships/notesSlide" Target="/ppt/notesSlides/notesSlide8.xml" Id="R5871b875f5644ce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da3531f53543d9" /><Relationship Type="http://schemas.openxmlformats.org/officeDocument/2006/relationships/notesSlide" Target="/ppt/notesSlides/notesSlide9.xml" Id="Rbb663f0382f446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0c4378c84a4736" /><Relationship Type="http://schemas.openxmlformats.org/officeDocument/2006/relationships/notesSlide" Target="/ppt/notesSlides/notesSlide10.xml" Id="R96329e9d53bf4c55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2c785535d54eb0" /><Relationship Type="http://schemas.openxmlformats.org/officeDocument/2006/relationships/notesSlide" Target="/ppt/notesSlides/notesSlide11.xml" Id="Rca2987983db7419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8435456dab4e6a" /><Relationship Type="http://schemas.openxmlformats.org/officeDocument/2006/relationships/notesSlide" Target="/ppt/notesSlides/notesSlide12.xml" Id="Rcd0285a983b942eb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7c77444ca04aa3" /><Relationship Type="http://schemas.openxmlformats.org/officeDocument/2006/relationships/notesSlide" Target="/ppt/notesSlides/notesSlide13.xml" Id="R346ca2ff885e4f0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498cb8133848dd" /><Relationship Type="http://schemas.openxmlformats.org/officeDocument/2006/relationships/notesSlide" Target="/ppt/notesSlides/notesSlide14.xml" Id="Rab541e11f75843f9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721fe8d7dc4060" /><Relationship Type="http://schemas.openxmlformats.org/officeDocument/2006/relationships/notesSlide" Target="/ppt/notesSlides/notesSlide15.xml" Id="Re842f803c10d4c10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6d31f6b89f4f48" /><Relationship Type="http://schemas.openxmlformats.org/officeDocument/2006/relationships/notesSlide" Target="/ppt/notesSlides/notesSlide16.xml" Id="R0fa3ed779cef4a3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24504275f91451b" /><Relationship Type="http://schemas.openxmlformats.org/officeDocument/2006/relationships/notesSlide" Target="/ppt/notesSlides/notesSlide17.xml" Id="R4eb04c79376e4734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951c95a46349a4" /><Relationship Type="http://schemas.openxmlformats.org/officeDocument/2006/relationships/notesSlide" Target="/ppt/notesSlides/notesSlide18.xml" Id="Rc3860a82c46c499d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22d733cba540d5" /><Relationship Type="http://schemas.openxmlformats.org/officeDocument/2006/relationships/notesSlide" Target="/ppt/notesSlides/notesSlide19.xml" Id="R098fa5ebef2d45b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ee68768054ae4" /><Relationship Type="http://schemas.openxmlformats.org/officeDocument/2006/relationships/notesSlide" Target="/ppt/notesSlides/notesSlide20.xml" Id="R352e3294263b45f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df36486054dce" /><Relationship Type="http://schemas.openxmlformats.org/officeDocument/2006/relationships/notesSlide" Target="/ppt/notesSlides/notesSlide21.xml" Id="R87277a1a5deb49e9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115dc9836ef4a94" /><Relationship Type="http://schemas.openxmlformats.org/officeDocument/2006/relationships/notesSlide" Target="/ppt/notesSlides/notesSlide22.xml" Id="Rcad841aeeeaf45af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4E12422-B4F1-4A6E-AA26-CE42FC6B6B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CB44A59-89A7-45D6-8A64-7115EEE77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40EA5E-CCDA-4ED8-A489-71F6EE7B4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AFB99F-0C82-4679-8A23-FA0EE558C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381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3A7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F5477C-0004-445C-AD3E-013B4050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23900"/>
            <a:ext cx="6667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D9AA2E-9AD7-4F4F-94A5-8163C4C95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04875"/>
            <a:ext cx="3048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LDA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052557-CBEE-42A5-BE8C-060C4E4AD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762125"/>
            <a:ext cx="685800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AI-Based CAD Building Plan Verification &amp; Pre-Scrutiny System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9BF5550-8361-4480-B789-B106AA9DE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28950"/>
            <a:ext cx="5334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DCEC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CECFF"/>
                </a:solidFill>
                <a:latin typeface="Aptos"/>
                <a:ea typeface="Aptos"/>
                <a:cs typeface="Aptos"/>
              </a:rPr>
              <a:t>Faster, transparent and rule-based building plan scrutiny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AAB058-9C79-498D-9A3E-68E008B15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762375"/>
            <a:ext cx="53340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>
              <a:alpha val="7059"/>
            </a:srgbClr>
          </a:solidFill>
          <a:ln xmlns:a="http://schemas.openxmlformats.org/drawingml/2006/main" w="9525">
            <a:solidFill>
              <a:srgbClr val="FFFFFF">
                <a:alpha val="33333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CC731C-F425-4B8A-A4DB-878B7CA2A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52875"/>
            <a:ext cx="4857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First CAD-Based AI Building Plan Verification System for LDA / local authority use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13F7159-247B-4AC3-8744-CF2AE96F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476375"/>
            <a:ext cx="2286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16A06D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6A06D"/>
                </a:solidFill>
                <a:latin typeface="Aptos"/>
                <a:ea typeface="Aptos"/>
                <a:cs typeface="Aptos"/>
              </a:rPr>
              <a:t>CAD-based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823325-6DAA-467F-84F4-16853D97C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2095500"/>
            <a:ext cx="3714750" cy="2524125"/>
          </a:xfrm>
          <a:prstGeom xmlns:a="http://schemas.openxmlformats.org/drawingml/2006/main" prst="roundRect">
            <a:avLst>
              <a:gd name="adj" fmla="val 30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42C5772-0932-4637-B599-A74D54EE2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47650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184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F55B82-9A96-40B7-A399-719C19408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552700"/>
            <a:ext cx="1047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B5FA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B5FAA"/>
                </a:solidFill>
                <a:latin typeface="Aptos"/>
                <a:ea typeface="Aptos"/>
                <a:cs typeface="Aptos"/>
              </a:rPr>
              <a:t>DWG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E3DD74-5637-4522-851D-9719F0E4E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47650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184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D33E5A4-03DE-4F47-B862-D33B6C7347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552700"/>
            <a:ext cx="1047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B5FA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B5FAA"/>
                </a:solidFill>
                <a:latin typeface="Aptos"/>
                <a:ea typeface="Aptos"/>
                <a:cs typeface="Aptos"/>
              </a:rPr>
              <a:t>DXF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67DC9E0-7BD7-40EE-B33B-6CABA0FC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9560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184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D260CD-CAA9-4528-AE00-188E6BBEC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971800"/>
            <a:ext cx="1047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B5FA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B5FAA"/>
                </a:solidFill>
                <a:latin typeface="Aptos"/>
                <a:ea typeface="Aptos"/>
                <a:cs typeface="Aptos"/>
              </a:rPr>
              <a:t>PDF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E3C388-BDD9-4F32-8DD8-62B5FC59F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289560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FF4EA"/>
          </a:solidFill>
          <a:ln xmlns:a="http://schemas.openxmlformats.org/drawingml/2006/main" w="9525">
            <a:solidFill>
              <a:srgbClr val="1184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0D9038-2767-4715-9A85-45DE4BE4E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2971800"/>
            <a:ext cx="1047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84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845B"/>
                </a:solidFill>
                <a:latin typeface="Aptos"/>
                <a:ea typeface="Aptos"/>
                <a:cs typeface="Aptos"/>
              </a:rPr>
              <a:t>OCR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2CC0A4-7DA5-4217-AF19-7C19D3082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1470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FF4EA"/>
          </a:solidFill>
          <a:ln xmlns:a="http://schemas.openxmlformats.org/drawingml/2006/main" w="9525">
            <a:solidFill>
              <a:srgbClr val="11845B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8D60AB3-0666-4CFD-BB52-D4C58320F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390900"/>
            <a:ext cx="1047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84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845B"/>
                </a:solidFill>
                <a:latin typeface="Aptos"/>
                <a:ea typeface="Aptos"/>
                <a:cs typeface="Aptos"/>
              </a:rPr>
              <a:t>Rules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E7BD8E-FD7A-4D4E-ACE8-DC3FCCA92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31470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FF4EA"/>
          </a:solidFill>
          <a:ln xmlns:a="http://schemas.openxmlformats.org/drawingml/2006/main" w="9525">
            <a:solidFill>
              <a:srgbClr val="11845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7C7C81-CBB3-4D6D-AEDF-CE22AB333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390900"/>
            <a:ext cx="1047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84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845B"/>
                </a:solidFill>
                <a:latin typeface="Aptos"/>
                <a:ea typeface="Aptos"/>
                <a:cs typeface="Aptos"/>
              </a:rPr>
              <a:t>GIS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7F37AF6-78B5-4A62-8BE3-44EFDE3C4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733800"/>
            <a:ext cx="12382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FF4EA"/>
          </a:solidFill>
          <a:ln xmlns:a="http://schemas.openxmlformats.org/drawingml/2006/main" w="9525">
            <a:solidFill>
              <a:srgbClr val="11845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7391A5-4B30-4A9E-94EB-880AB51A6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810000"/>
            <a:ext cx="10477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84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845B"/>
                </a:solidFill>
                <a:latin typeface="Aptos"/>
                <a:ea typeface="Aptos"/>
                <a:cs typeface="Aptos"/>
              </a:rPr>
              <a:t>Report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287A7A0-632C-4B1D-A61F-1D88F8D80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096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CFE3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CFE3FF"/>
                </a:solidFill>
                <a:latin typeface="Aptos"/>
                <a:ea typeface="Aptos"/>
                <a:cs typeface="Aptos"/>
              </a:rPr>
              <a:t>DG-level / CS-level 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64B932-8EAC-4831-AB92-E6AF5108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6DE010-12AE-43FA-A5DE-3C0CB717C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98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LDA AI Verification System | Confidential Review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FAE8043-BFD6-4853-AB88-25A93F28C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1987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21151116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8F7D1D0-7336-47D4-933E-635C6D470E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6C5464-39BF-4CE1-9ED2-F209C42E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E103FE-6831-46C2-BA6B-FB2A3A8B8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25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6254D"/>
                </a:solidFill>
                <a:latin typeface="Aptos Display"/>
                <a:ea typeface="Aptos Display"/>
                <a:cs typeface="Aptos Display"/>
              </a:rPr>
              <a:t>Executive Summary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0956DB-6933-48F4-AD69-91BED55B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system reduces manual scrutiny friction while keeping officers in control of final decisions.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7FFF89-1B91-47DC-B227-A62600E2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76375"/>
            <a:ext cx="3333750" cy="2428875"/>
          </a:xfrm>
          <a:prstGeom xmlns:a="http://schemas.openxmlformats.org/drawingml/2006/main" prst="roundRect">
            <a:avLst>
              <a:gd name="adj" fmla="val 31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C0AE5A4-DC75-4D87-BEBB-577E5960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8125" y="1476375"/>
            <a:ext cx="76200" cy="2428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496174-72C7-4B04-B4BE-6D4746950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647825"/>
            <a:ext cx="2952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Executive takeaway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38C49B-C9CA-47D5-8487-A1C00E9F4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1933575"/>
            <a:ext cx="2952750" cy="1876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A practical public-sector decision-support layer for real submissions, not a replacement for official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05152F-587E-4B03-BD24-4E59B1393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5735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810553-6636-412C-AC22-2E3DB5882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600200"/>
            <a:ext cx="61912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Manual review is slowed by varied CAD/PDF submissions, repeated measurements and inconsistent drawing standards.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963FF58-1DF5-4B97-AE3D-98F12824F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62225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CEB3D9-B8CF-40AA-AEA0-3FB0518F8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05075"/>
            <a:ext cx="61912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AI-assisted pre-scrutiny turns drawings, documents, map evidence and rules into a structured report.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1A789F3-B3DC-4B2C-8F19-86A0243C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85725" cy="857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5B10D6-DC76-437E-9B64-2C7ABED3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09950"/>
            <a:ext cx="6191250" cy="866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The officer remains final authority, with every recommendation and override captured in an auditable trail.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0854C6-F1D5-41B6-9039-881F2CE4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387DA41-903D-46C1-9969-F620F0C2D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98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LDA AI Verification System | Confidential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16D611-3B02-4DA7-8C4E-18F1389B1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1987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31800535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2B8C619-97F9-438F-AEEF-C4FD17E1A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A5B33B-C33D-4419-91F6-F4C116D1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7C66E0-8341-46D7-86B8-B479C096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25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6254D"/>
                </a:solidFill>
                <a:latin typeface="Aptos Display"/>
                <a:ea typeface="Aptos Display"/>
                <a:cs typeface="Aptos Display"/>
              </a:rPr>
              <a:t>Strategic Positioning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80E26-AA6A-4F03-BB2A-84B1D1FC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LDA is building a locally practical CAD-based AI scrutiny model instead of forcing a high-cost BIM-only shift.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FBF0A86-9F11-460C-BFAF-C42F12BA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33813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AABA3E-95BD-4714-AFE6-5940DDB98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0020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5F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0266A0-F6DE-4530-9461-AB530CF31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771650"/>
            <a:ext cx="3000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Developed-market approval 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5374BA-C9F8-41EA-A396-9CC56DE79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57400"/>
            <a:ext cx="300037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BIM/Revit workflows are advanced and powerful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Require strict model standards and trained BIM ecosystem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Adoption depends on broad industry maturity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A9E101-AECA-4538-8E99-39BA19C8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00200"/>
            <a:ext cx="3381375" cy="2190750"/>
          </a:xfrm>
          <a:prstGeom xmlns:a="http://schemas.openxmlformats.org/drawingml/2006/main" prst="roundRect">
            <a:avLst>
              <a:gd name="adj" fmla="val 347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1A51D8-5175-4111-8C27-ABAB97DA7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00200"/>
            <a:ext cx="76200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33FE375-3BC8-48BC-92B9-8BD413DEA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1771650"/>
            <a:ext cx="3000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LDA CAD-based AI model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438A7BD-A7F1-4E38-B49E-A8FA6EE21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057400"/>
            <a:ext cx="3000375" cy="1638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Works with existing architect submissions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Supports DWG, DXF, CAD and PDF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Fits current officer capacity and phased rollout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BC8FDC-9FFC-454D-898C-7029A9D4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333875"/>
            <a:ext cx="8572500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062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6C154B-EFB2-494B-91EE-7D12B247E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5450" y="4572000"/>
            <a:ext cx="79057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LDA is not simply copying high-cost BIM approval models from developed countries. It is building a practical CAD-based AI scrutiny model suited to local market realities.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36E32A-EAA2-400B-9C23-47F73F9D4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84A6624-A889-4F6A-9CFF-F78DFB82D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98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LDA AI Verification System | Confidential Review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DD0E01C-08C1-480E-9E02-C7F93CC7C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1987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7611043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312C129-429F-45B6-9E48-BBAC32155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94E390-EC83-47B5-8A32-A2B6B7DF9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FC8B81-8015-4E35-8843-44F73B9F2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25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6254D"/>
                </a:solidFill>
                <a:latin typeface="Aptos Display"/>
                <a:ea typeface="Aptos Display"/>
                <a:cs typeface="Aptos Display"/>
              </a:rPr>
              <a:t>Current Manual Process Challenges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6B5582-E62F-471F-97D2-97F6F836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Manual scrutiny remains document-heavy, interpretation-heavy and difficult to audit consistently.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10D8430-39DD-4EA0-82CE-DE7CB65C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00037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4871558-977D-460F-A7DB-94D73470C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D8B318-FCBB-4C41-960C-FC26A5FBD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76400"/>
            <a:ext cx="2619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Manual review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EB958E-C133-444B-AEC6-5D09239DE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62150"/>
            <a:ext cx="2619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Repeated plan reading and document follow-up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0206AD-599E-4582-9319-207CCCE4C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04950"/>
            <a:ext cx="300037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E8813-0E1E-472C-A34A-56B28FB9B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049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5F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61AC8B-9B25-4E41-86D0-28C63B75D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76400"/>
            <a:ext cx="2619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Inconsistent interpretation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E2157A-1E51-4D3A-A5BB-8B9362D2B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62150"/>
            <a:ext cx="2619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Different reviewers may check drawings differently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A65FEB0-84CF-4ACF-B07E-E61EE9AA0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04950"/>
            <a:ext cx="300037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040769-C757-4CCF-92C9-CD616DBC4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049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68CA4B-C2E7-401A-BE32-853508D54E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76400"/>
            <a:ext cx="2619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CAD layer issues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7A6CB5-8689-40FC-853F-790D42193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62150"/>
            <a:ext cx="2619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Missing or non-standard layer naming slows validation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B073E1-6095-40D9-ADAF-8FE1841FE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300037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85507F-F987-490E-8767-266CF44E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5F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085ECC-812F-4FC7-B109-E55EC5124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76600"/>
            <a:ext cx="2619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Measurement checking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5B1E591-C257-4A7A-8529-4DCA35C2F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2619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Setbacks, FAR and coverage require repetitive calculation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D763FA-39FF-42BE-8370-6EFF7103D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05150"/>
            <a:ext cx="300037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7D9662E-2B88-41C4-8C12-A9AF3D506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051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D5B4C26-5277-4452-8FC0-8FA13CB42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76600"/>
            <a:ext cx="2619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Limited audit trail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099C15F-618F-414F-A3D3-A8AFBB049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62350"/>
            <a:ext cx="2619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Evidence, remarks and decisions are hard to connect end to end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7AD06D1-90A3-4B90-842C-2C91331694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83EDC6-2C1F-47D6-AC97-C0CD5C315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98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LDA AI Verification System | Confidential 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C30F057-E3DA-4E16-99AB-0680A8054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1987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1277483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28CE5A5-FD5D-45FD-B625-B096392F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B0F6B0-1BE6-4CC2-B7EA-C24F0CB90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AAD3138-FBD6-446E-8FBE-EBB0AC434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25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6254D"/>
                </a:solidFill>
                <a:latin typeface="Aptos Display"/>
                <a:ea typeface="Aptos Display"/>
                <a:cs typeface="Aptos Display"/>
              </a:rPr>
              <a:t>Proposed AI-Enabled Process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0062EF-3EF2-444D-BE6A-1B9633A59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workflow converts applicant submissions into structured officer-ready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30B4B7-A167-4D1E-B57D-38ACBBD522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33625"/>
            <a:ext cx="142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4288">
            <a:solidFill>
              <a:srgbClr val="1184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9B9BC05-9AFB-4B0B-AC24-68978C9FF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Applicant Upload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15AB42E-7EEC-4BB5-8E5C-D2DDB08AE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6479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845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84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996830-0233-45CB-B3B0-8A241DD66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333625"/>
            <a:ext cx="142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14288">
            <a:solidFill>
              <a:srgbClr val="1184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186953-5180-4ADD-8FB6-388297A65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260985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CAD/PDF Processing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62E0CB-8148-40A8-BF17-1E259F0FF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26479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845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84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84F8F5-E4E2-47D3-A52C-876A4D766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333625"/>
            <a:ext cx="142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FF4EA"/>
          </a:solidFill>
          <a:ln xmlns:a="http://schemas.openxmlformats.org/drawingml/2006/main" w="14288">
            <a:solidFill>
              <a:srgbClr val="1184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4AFFA6-5832-4CAF-AEC3-B4D3ECBC5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AI Pre-Scrutiny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A0A691D-245B-4C3D-BECB-65D9E0D5D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26479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845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84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9BAC8AF-ED6B-41D9-87F2-31ADF0E43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333625"/>
            <a:ext cx="142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DFF4EA"/>
          </a:solidFill>
          <a:ln xmlns:a="http://schemas.openxmlformats.org/drawingml/2006/main" w="14288">
            <a:solidFill>
              <a:srgbClr val="1184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2B16B86-58E0-48C9-989E-42FA49B9D1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60985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Rule 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BFD118-E25E-4BE1-B128-DE5F2EE4F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26479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845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84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2F8C468-904E-45D3-BCED-501015425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33625"/>
            <a:ext cx="142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5FA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E4255E-DC65-41CF-98A6-8AE07669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60985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Officer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582EB98-BD19-49A6-8131-CE7746931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47950"/>
            <a:ext cx="381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1845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184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F4737A-1AED-4A77-A802-EF0F3C48D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96475" y="2333625"/>
            <a:ext cx="1428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B5FA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CE8026A-A956-4C0A-917E-198CB97CBA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8875" y="2609850"/>
            <a:ext cx="11239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Final Decision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6DAE74-31C3-41BB-8F98-5CD29D7D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095750"/>
            <a:ext cx="8382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845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1845B"/>
                </a:solidFill>
                <a:latin typeface="Aptos"/>
                <a:ea typeface="Aptos"/>
                <a:cs typeface="Aptos"/>
              </a:rPr>
              <a:t>Output: a structured scrutiny package for officer review, not an automated final approval.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F3A40F-6650-4ED0-B364-1712F4DA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A03876C-C853-4670-90B4-CC1BB0C83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98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LDA AI Verification System | Confidential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BE08F6-3115-430C-AE0B-DBA08D635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1987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79656186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2680619-8F94-4308-8681-AB3EC3F8E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A5D667-D208-467B-93E6-B092BD6BA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E50211-9B5F-4787-A7F3-315AD467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25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6254D"/>
                </a:solidFill>
                <a:latin typeface="Aptos Display"/>
                <a:ea typeface="Aptos Display"/>
                <a:cs typeface="Aptos Display"/>
              </a:rPr>
              <a:t>Technology We Are Using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5DF4939-FF66-4AA3-A8F9-094D2A320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platform combines CAD intelligence, GIS verification, rule logic and officer workflow controls.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E414677-C0B3-4570-AB77-41F2D073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3000375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4CAD44-89A5-495F-B733-75C576B5C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7145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5F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AC04C7-AAE4-4BD8-8252-41E36447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1885950"/>
            <a:ext cx="2619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Plan intelligence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935A2F8-11DB-423A-9859-29F1A5C79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171700"/>
            <a:ext cx="261937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CAD/DWG/DXF/PDF parsing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OCR/text extraction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Measurement detection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09460C-6204-4AB3-A778-A1214EDF5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3000375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021258-3E26-4938-9A5E-DA8288C41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7145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78B794B-2017-4FBA-8D0F-FE4A4003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885950"/>
            <a:ext cx="2619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Decision support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BE9EAA5-A2FF-4985-A2B8-3DBB7BF95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171700"/>
            <a:ext cx="261937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Rule engine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ML confidence scoring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AI report generation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56C677-37DE-47EA-8F5B-7B25F0248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14500"/>
            <a:ext cx="3000375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5F2CA69-6F95-42CF-8B4C-A54571A83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714500"/>
            <a:ext cx="7620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BD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7810EE-755B-4777-A288-4AAD1AD18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885950"/>
            <a:ext cx="2619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Public-sector workflow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80F764-53B4-433E-AE2A-F5594716F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71700"/>
            <a:ext cx="2619375" cy="1924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GIS/map verification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Officer dashboard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Audit logs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E4750D-A0D8-4128-A698-76916EDB8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46AB9D-F568-49EB-926B-7130F6368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98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LDA AI Verification System | Confidential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B8B8F2-6211-4FFA-B66B-30B11D19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1987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8371970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71C4ED0-81C0-46BF-900D-BCCA1502E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87EB2F-8962-4D0D-ACD9-C598EF2B9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AE37DD-03F3-4D4B-B305-7FCDB1F85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25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6254D"/>
                </a:solidFill>
                <a:latin typeface="Aptos Display"/>
                <a:ea typeface="Aptos Display"/>
                <a:cs typeface="Aptos Display"/>
              </a:rPr>
              <a:t>Machine Learning Process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839B26-FB14-431A-B9C6-AC2E08FF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model improves through structured extraction, confidence scoring and officer feedback.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86A87E-92CE-4EBC-9F8B-64017AD92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619250"/>
            <a:ext cx="20002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84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10E4B1-36BE-4A0A-B7B2-67A422A77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82880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Data Collection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95F239-CDAB-4D3C-A108-115C196E9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18478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845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84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31B7F7-2D36-4B60-82D6-0C5E08C3E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1619250"/>
            <a:ext cx="20002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845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F51ADE6-891F-43ED-8D40-5582E7ADE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182880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CAD/Text Extraction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EC43CD-AEE7-4B37-88D2-78DFA40A8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18478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845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84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8C5198-4346-4741-B0BD-AB39D484C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619250"/>
            <a:ext cx="20002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84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1D2E50-1C12-40C3-88B0-CFBDFAA5E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82880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Feature Mapping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094D62-1E21-48DA-BE9B-3F975DF6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8478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845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84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D3C45E-6F39-4300-A9E6-79C8C3929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619250"/>
            <a:ext cx="20002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845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996DEBF-2EED-4C49-9EB6-00D197955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82880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Measurement Detection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DD44C1-9739-4B50-9C83-19DCE499A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33750"/>
            <a:ext cx="20002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845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270784-353F-4711-B6A0-C988A99AC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54330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Confidence Scoring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BC4020-0EAF-409F-B8FC-4840573F2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35623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845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84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B6D1565-2DB1-4DD4-9C81-B4DB446D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1875" y="3333750"/>
            <a:ext cx="20002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84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DB352D-F648-4746-AD90-567CF4A9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54330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Rule Matching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3A59AAC-B82E-475F-8A5C-9BF64437D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8325" y="35623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845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84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BC5614C-3B80-4B4B-988A-300A9112A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33750"/>
            <a:ext cx="20002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845B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377498-814C-423F-AD62-BAD9CF93F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54330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Human Feedback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CDE7A6F-A1FB-4457-B4B3-1F0DAF259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623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845B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11845B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53BF20-D464-49D7-A47F-7F9C578478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3333750"/>
            <a:ext cx="2000250" cy="809625"/>
          </a:xfrm>
          <a:prstGeom xmlns:a="http://schemas.openxmlformats.org/drawingml/2006/main" prst="roundRect">
            <a:avLst>
              <a:gd name="adj" fmla="val 941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1845B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A82DCB-5D52-459C-AD87-3631B6B75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543300"/>
            <a:ext cx="16954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Model Improvement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5B727D0-83E4-4803-8D96-13D5B8C77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A17C351-026A-4A66-84F5-A8510D5A1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98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LDA AI Verification System | Confidential Review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D018E92-8413-4C6B-8BE1-C809AC237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1987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604826353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9563000-CCF6-410F-8774-473B646D8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19B3FF-3B92-4E8C-BAAA-08908202E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B0FEBB-63EC-4172-9E01-F17CC7B58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25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6254D"/>
                </a:solidFill>
                <a:latin typeface="Aptos Display"/>
                <a:ea typeface="Aptos Display"/>
                <a:cs typeface="Aptos Display"/>
              </a:rPr>
              <a:t>CAD-Based AI System vs BIM/Revit-Based Approval System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40BF19-111B-48ED-89CF-4E2979970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BIM/Revit approval is advanced; CAD-based AI is faster and more practical for local adoption.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4F7436-0608-4BD2-AEF6-10B2AE322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314450"/>
            <a:ext cx="1619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F56B3-571E-4361-869B-986186327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00175"/>
            <a:ext cx="14668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Area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9DA8186-E5B9-4D83-B012-437437C58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314450"/>
            <a:ext cx="4333875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3766FA-6575-4C5A-B6B5-8DA3AB461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400175"/>
            <a:ext cx="418147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BIM/Revit-Based Approval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C4978A0-9099-45AA-BFF5-96C7D71F0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314450"/>
            <a:ext cx="5143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909C92-0E5F-42D4-BC5C-7E478653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400175"/>
            <a:ext cx="4991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LDA CAD-Based AI Scrutiny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BB8BA7-625E-4B71-B68B-FF3C159E4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638300"/>
            <a:ext cx="1619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91978BD-7237-46C6-B67D-4DECF2C5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04975"/>
            <a:ext cx="146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Input Format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5BE7E98-F9F9-4BF1-86D7-7D49F1AC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638300"/>
            <a:ext cx="4333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AE9460-4663-479F-9DB6-80EEC6978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1704975"/>
            <a:ext cx="418147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BIM/Revit model required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F6102A3-DAEE-49FD-8858-9FE98642F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1638300"/>
            <a:ext cx="5143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1C2D46-4D87-4587-9C07-E13B116F1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1704975"/>
            <a:ext cx="49911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CAD/DWG/DXF/PDF supported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5197E9F-894F-44FB-9574-A8D3CEDE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05025"/>
            <a:ext cx="1619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84474A-695E-4C15-BC4C-CC3201F0F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71700"/>
            <a:ext cx="146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Cost for Architects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ED1004-658A-4AD6-88FC-7FDB9231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105025"/>
            <a:ext cx="4333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4017CF3-2F08-41C6-9B45-964CF7DF0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171700"/>
            <a:ext cx="418147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High software and training cost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DFDF089-5528-4478-A029-650EC62B4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105025"/>
            <a:ext cx="5143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24A9F6-6DAF-4B2B-B88A-A1C92D808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171700"/>
            <a:ext cx="49911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Works with existing CAD workflow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CA89CE8-10EE-44AF-B59C-D8E20B50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571750"/>
            <a:ext cx="1619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6E5BAA-835B-4374-B98B-7E102551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38425"/>
            <a:ext cx="146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Adoption Barrier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1092D1-C6C2-4B3A-AC69-C0931152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571750"/>
            <a:ext cx="4333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AA1796B-66FC-4055-89C1-1F53ED0D5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2638425"/>
            <a:ext cx="418147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Requires industry-wide BIM shift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EBD801A-42AD-466D-A5CB-D53747850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2571750"/>
            <a:ext cx="5143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907DE2A-CAB7-4B83-9290-F4D9360D3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2638425"/>
            <a:ext cx="49911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Compatible with current submissions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64534D-579A-43C1-91E0-2813A898E2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038475"/>
            <a:ext cx="1619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2155C7-7D8B-489A-A131-71DC9CE8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05150"/>
            <a:ext cx="146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Public Sector Readiness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064DD8-1FA3-4CC7-BCE4-8108F7DA0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038475"/>
            <a:ext cx="4333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A8C672E-6113-4CFC-B5C4-C03404BF2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105150"/>
            <a:ext cx="418147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Requires specialized BIM review teams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40A751D-6763-441D-9AA4-DB56823F9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038475"/>
            <a:ext cx="5143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DC1D20-99C0-48F7-B4B9-47D8914F5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105150"/>
            <a:ext cx="49911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Supports existing officers with AI assistance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911830B-2D86-44FD-8070-8ED01479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05200"/>
            <a:ext cx="1619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0633DCC-DC75-4C17-9261-F67E1B6F6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71875"/>
            <a:ext cx="146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Implementation Speed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545CCFA-5BBA-485B-8D5D-526223D0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505200"/>
            <a:ext cx="4333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AF6DC75-4EC0-4BD9-8F94-9F9085472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3571875"/>
            <a:ext cx="418147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Slower due to ecosystem change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A29A303-9939-46B2-AF73-FCFDB0FFF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505200"/>
            <a:ext cx="5143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D870555-BEB8-40A4-859D-8E477B6E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3571875"/>
            <a:ext cx="49911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Faster pilot and phased rollout possible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EF1F75-A96B-4243-8B1B-139C8575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971925"/>
            <a:ext cx="1619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8987506-7543-4691-95F5-3ECC14636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38600"/>
            <a:ext cx="146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Suitability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ACC4949-BD1E-4EC8-A987-734389499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971925"/>
            <a:ext cx="4333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B10EC70-51E0-4E91-BB11-401C51BF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038600"/>
            <a:ext cx="418147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Highly digitized construction markets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3ACC450-3F91-420C-AE45-A166B8BBE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3971925"/>
            <a:ext cx="5143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865AE0E-B50A-41C5-B176-3F3B1DD1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038600"/>
            <a:ext cx="49911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Developing countries and local authorities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EE5F635-597A-4ACC-9BD7-EAA042AB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1619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C5733684-0BC0-4A9D-9E00-228327A2B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5325"/>
            <a:ext cx="146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Scrutiny Method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13CF302-6DE1-43B8-8546-5B429FA80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438650"/>
            <a:ext cx="4333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DD03A5C-D31F-4C92-9E5A-B7F9E8325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505325"/>
            <a:ext cx="418147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Model-based validation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2A253A8-1EDC-42FE-BBDB-D697DBDE9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438650"/>
            <a:ext cx="5143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F81163C-D2B8-4D18-BF31-CB6029E7F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505325"/>
            <a:ext cx="49911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CAD/text/dimension/rule-based AI validation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17E4181-F6FE-4076-9078-45ACB98A7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905375"/>
            <a:ext cx="161925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FFBC9F5D-027A-4E11-89CD-261F5890B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72050"/>
            <a:ext cx="146685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Human Review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7CD43F49-DB28-4770-A1F7-D756C5BEA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905375"/>
            <a:ext cx="4333875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3A060CCF-6558-45F3-BD84-E1043984B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72050"/>
            <a:ext cx="4181475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Still required for exceptions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4281BB1-0725-4780-9C49-475404476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6525" y="4905375"/>
            <a:ext cx="5143500" cy="4667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95297890-6B96-406F-BAC3-E32E3DDA7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2725" y="4972050"/>
            <a:ext cx="4991100" cy="390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Officer remains final decision authority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67C92CF-7BAB-4950-B615-CCD6E8F38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99B94500-9086-40AB-AF5B-56E4ECD2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98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LDA AI Verification System | Confidential Review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448AF78A-3006-429E-A8DC-6C9CA09F5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1987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2123767121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F0B3E9-BC07-42A1-B274-2A3831CD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D2AD4C-1732-45C7-8342-B099A8F45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010768-7481-4D81-86D8-3582A468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25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6254D"/>
                </a:solidFill>
                <a:latin typeface="Aptos Display"/>
                <a:ea typeface="Aptos Display"/>
                <a:cs typeface="Aptos Display"/>
              </a:rPr>
              <a:t>Feature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2F0BC5-B6B2-421A-B8D4-99CCD68443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AI assistance standardizes repetitive checks and gives officers a clearer review package.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B1E173-0B95-49EF-ADF6-FE4C480EA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09700"/>
            <a:ext cx="2476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BFA90-94CC-4814-9C4E-E3AD2D3A3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495425"/>
            <a:ext cx="2324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Capability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B14C367-C492-48DB-86C4-2BB1859A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409700"/>
            <a:ext cx="371475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CA3729-6A79-471A-8EF5-FDA13E3B1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495425"/>
            <a:ext cx="356235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Manual 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DC6581-5E46-49EE-A8AF-DFFAB5B06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409700"/>
            <a:ext cx="4000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73530B-ECB2-4368-8CE4-CD5EBD9BF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495425"/>
            <a:ext cx="38481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8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AI-Assisted System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5A6A278-F7A8-49C3-ABBF-CBE1EA6C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7716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F8199C-DCF4-4B8B-A082-A2F5163CA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38325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Plan reading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D04C125-C8F9-4B13-8A72-FFA4D730C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177165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778B53-D267-4B94-B62D-0F655A0A9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38325"/>
            <a:ext cx="3562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Manual visual 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9FC7A7-5B3A-4AA3-8C6C-610FE4857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771650"/>
            <a:ext cx="400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273575-729D-4978-BDBC-A701E7B9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838325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CAD/text extraction with confidence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F1AA800-CC97-47E8-BC70-7A71834CF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2479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6810C0-309F-42BB-A9C3-FB7675C84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14575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Measurement checking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6085E1-FC45-4C99-ADCD-32D055202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24790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77C3DC-4100-4705-A48F-08E7D71F2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314575"/>
            <a:ext cx="3562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Manual calculation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C73A1A0-8C16-4E9A-BC54-AF0C885D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247900"/>
            <a:ext cx="400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2EF5DF1-2C2E-4702-A8BD-F5ECBBFD5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314575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System-calculated values with officer 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F3FAFC-5D2F-4B42-BF00-E2E53B04F4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7241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512F9B-547C-464F-9788-E694C3D18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90825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Rule verification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C69CD30-BE57-4C55-921D-E58A50B6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72415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6398D99-A772-43A5-8D64-D280AEED2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90825"/>
            <a:ext cx="3562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Reviewer-led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5F4739-6B9E-4017-A18C-918B94486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724150"/>
            <a:ext cx="400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05C0AD5-CD5A-4B74-B17B-506FC5AE5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790825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Rule-wise pass/fail/manual review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463DF8-B1AB-4563-AE94-E5CF3C175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04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373C893-0DAA-46F6-B868-DCEED32D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67075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Report generation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5B66E5D-D491-4293-BE78-AB009E368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20040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2642401-FF7A-45B8-ABBF-2C91495FB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267075"/>
            <a:ext cx="3562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Manual notes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2AE7C7B-B2CB-41E6-9ACB-D863C0A67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200400"/>
            <a:ext cx="400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C3AEA8C-5FC0-433E-87FB-44EBE5F42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267075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Structured AI scrutiny report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7057DDC-8F5F-4D91-A5FA-8A69A692E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766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54BF5A7-E038-4376-9F68-DF37D91D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743325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Decision support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A40FE8-E532-4F0E-8FA4-A4819E796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7665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E7271C8-92DE-45B0-BCC5-BC7223235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743325"/>
            <a:ext cx="3562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Limited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F5B8051-9A1D-46E2-94A1-1B0A03BB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676650"/>
            <a:ext cx="400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F6B9B0-B828-40B8-BC7A-E576D3D8E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43325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Recommendation plus evidence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6F9091F-25F5-44B7-BC28-4AC77FE2E0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15290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AC12759-35CA-496F-A196-326730955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219575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Audit trail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4041FC9A-B1B8-4263-9E60-761BA7075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15290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85E5722A-D8BC-450B-BD80-EB71C7EA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219575"/>
            <a:ext cx="3562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Fragmented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D51C781-AA41-44D2-A6D0-0AD6D4407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152900"/>
            <a:ext cx="400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9FBFD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D73D839-09EA-4514-A0F5-C176DBEB6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19575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Logs, remarks and status history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ECF1158C-2959-4D1E-A490-5E53D85F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29150"/>
            <a:ext cx="2476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835C0D2-BB4D-487A-8551-FF08FBDE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95825"/>
            <a:ext cx="2324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645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Processing time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BE18E96-F00B-4C14-9ECC-4E389B067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4629150"/>
            <a:ext cx="371475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37FDA51-28A4-435C-859A-B0C77C0D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4695825"/>
            <a:ext cx="35623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Longer and variable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E70713B-AFDA-4C6F-A679-B5A32E1C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29150"/>
            <a:ext cx="4000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6668">
            <a:solidFill>
              <a:srgbClr val="D7E0E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8E476D79-3E57-4142-84FD-B3561AB4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695825"/>
            <a:ext cx="38481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4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64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Faster pre-scrutiny and triage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BBA44A8F-62F8-4087-B748-C7754A1F8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D77C3C5-BDB5-4E02-ABF3-0F1F985A0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98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LDA AI Verification System | Confidential Review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0553521-ED62-4605-B570-07580FAF2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1987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116422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5181E35-A8D2-408D-AB8D-7613D5F4F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4B8A20-3077-4F2E-A7E9-1955A965A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2DDDE86-9E2E-4E8C-84ED-1FBE1FEE3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25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6254D"/>
                </a:solidFill>
                <a:latin typeface="Aptos Display"/>
                <a:ea typeface="Aptos Display"/>
                <a:cs typeface="Aptos Display"/>
              </a:rPr>
              <a:t>Why CAD-Based AI Is Right for Pakistan / Developing Countries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8A61503-114E-4F3F-8F52-E060AEB643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approach works with the market as it exists today while keeping a path open for future BIM maturity.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D4743EE-D414-461C-8C79-31072BB7C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62100"/>
            <a:ext cx="4381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FF4EA"/>
          </a:solidFill>
          <a:ln xmlns:a="http://schemas.openxmlformats.org/drawingml/2006/main" w="9525">
            <a:solidFill>
              <a:srgbClr val="1184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68B062-FDAF-42BF-8336-B1925A206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38300"/>
            <a:ext cx="419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84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845B"/>
                </a:solidFill>
                <a:latin typeface="Aptos"/>
                <a:ea typeface="Aptos"/>
                <a:cs typeface="Aptos"/>
              </a:rPr>
              <a:t>Works with existing CAD drawings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CFD8EE-4DCA-45BA-A9DC-D86707508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62100"/>
            <a:ext cx="4381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184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C8940B-0E0B-44BD-9029-10F6F5418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38300"/>
            <a:ext cx="419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B5FA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B5FAA"/>
                </a:solidFill>
                <a:latin typeface="Aptos"/>
                <a:ea typeface="Aptos"/>
                <a:cs typeface="Aptos"/>
              </a:rPr>
              <a:t>Avoids costly BIM/Revit subscriptions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055E21-AAB3-4BC5-AFDF-B91206AAC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4381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FF4EA"/>
          </a:solidFill>
          <a:ln xmlns:a="http://schemas.openxmlformats.org/drawingml/2006/main" w="9525">
            <a:solidFill>
              <a:srgbClr val="1184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B8700B-A916-4A9F-BD57-0B00C7DAF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419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84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845B"/>
                </a:solidFill>
                <a:latin typeface="Aptos"/>
                <a:ea typeface="Aptos"/>
                <a:cs typeface="Aptos"/>
              </a:rPr>
              <a:t>Faster adoption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80978A-F857-4CD7-A737-B90BD17A6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24100"/>
            <a:ext cx="4381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184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B30F72-83DD-43F2-BF7C-3BB1BE0BD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419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B5FA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B5FAA"/>
                </a:solidFill>
                <a:latin typeface="Aptos"/>
                <a:ea typeface="Aptos"/>
                <a:cs typeface="Aptos"/>
              </a:rPr>
              <a:t>Supports officers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1D230B-5FF5-42DF-BE69-D2025DA7C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4381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FF4EA"/>
          </a:solidFill>
          <a:ln xmlns:a="http://schemas.openxmlformats.org/drawingml/2006/main" w="9525">
            <a:solidFill>
              <a:srgbClr val="1184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6C6C47-80C5-4887-A3FA-33079F662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419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84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845B"/>
                </a:solidFill>
                <a:latin typeface="Aptos"/>
                <a:ea typeface="Aptos"/>
                <a:cs typeface="Aptos"/>
              </a:rPr>
              <a:t>Confidence-based scrutiny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7C7F50-CD7E-4BC6-92AB-1534B27C8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4381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184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4DFD40-DC31-47C4-9025-EE83CCE65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62300"/>
            <a:ext cx="419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B5FA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B5FAA"/>
                </a:solidFill>
                <a:latin typeface="Aptos"/>
                <a:ea typeface="Aptos"/>
                <a:cs typeface="Aptos"/>
              </a:rPr>
              <a:t>Gradual future BIM transition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9B1F20E-3A6F-42D1-803A-7DAF27E56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48100"/>
            <a:ext cx="4381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FF4EA"/>
          </a:solidFill>
          <a:ln xmlns:a="http://schemas.openxmlformats.org/drawingml/2006/main" w="9525">
            <a:solidFill>
              <a:srgbClr val="1184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31B1DC-64B9-437E-9EEA-C3932044CF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24300"/>
            <a:ext cx="419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84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845B"/>
                </a:solidFill>
                <a:latin typeface="Aptos"/>
                <a:ea typeface="Aptos"/>
                <a:cs typeface="Aptos"/>
              </a:rPr>
              <a:t>Lower training burden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99BDA1-A4C2-4A76-B4EE-0C36F276E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848100"/>
            <a:ext cx="4381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1845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658610-EE8F-449A-AF87-7BA131F15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24300"/>
            <a:ext cx="419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B5FA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B5FAA"/>
                </a:solidFill>
                <a:latin typeface="Aptos"/>
                <a:ea typeface="Aptos"/>
                <a:cs typeface="Aptos"/>
              </a:rPr>
              <a:t>Locally practical digital approval model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84BC3D-6105-40DB-ADEE-B91E03A48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600299-0F2F-4C58-B3E8-7361C960F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98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LDA AI Verification System | Confidential 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C4FCF3-0F40-42BA-A658-B6A15EE8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1987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86565058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AB4ACB-D5D4-4977-940A-65710DBF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0CF8F2-0641-473A-BBEF-496236638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9CA39AA-5A0B-44CD-877F-A3C35A66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25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6254D"/>
                </a:solidFill>
                <a:latin typeface="Aptos Display"/>
                <a:ea typeface="Aptos Display"/>
                <a:cs typeface="Aptos Display"/>
              </a:rPr>
              <a:t>Key Benefits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F010BF-CB81-4B48-9F0E-7BC284EE3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system improves speed, consistency and citizen-facing transparency.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C9076C-1D1C-4501-A346-7333388E83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4584D0-1327-48DF-A905-A32EEF1A3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049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A30F49-9FDA-4763-B6FD-62B1B9348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7640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Faster scrutiny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54190B-B90F-4400-99DE-1D3951ABA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62150"/>
            <a:ext cx="2762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Pre-checks reduce repetitive officer workload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ADFCE6-3CB1-4ECE-905F-4D3078AF3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0495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EE946D-322B-4C5B-9104-B4783B061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5049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5F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6EF23E-1A82-4136-AD78-9864A6213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67640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Reduced manual burden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87A501-C6EE-4BED-BAC5-471BBAA2B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62150"/>
            <a:ext cx="2762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Officers focus on exceptions and judgment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90CC93-4E63-48F5-B1D8-6D2128750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0495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148502-76C4-4D19-A58B-7DB9BCF49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049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911C17-C5B6-41BD-A63B-E2BB7E22F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67640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Transparent recommendations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DA3EBE-B298-4333-8F45-AF9E63CFC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962150"/>
            <a:ext cx="2762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Rule-wise evidence is visible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B08BB2-272B-45F1-A571-97EF6429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9CA5D45-E159-43BE-A828-AD032EADE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289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5F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F2D0780-5E28-4FA3-8433-3CBEB706D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0040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Better compliance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1F9259-ABB6-4A02-A91A-6BEDAAD4B1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86150"/>
            <a:ext cx="2762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Common checks are standardized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AEBD0F-91DB-4386-A433-29903AD82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2895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C4735CB-6AF2-4C11-B5BC-C9EE60191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30289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7A1CCE-43B3-4B3C-9211-8154E6BC9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20040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Standardized reports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B59373-8173-435E-B4E2-98F2B86C1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3486150"/>
            <a:ext cx="2762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Consistent outputs across cases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EFEE85-7033-41CB-B497-634A2AB5C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28950"/>
            <a:ext cx="314325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8BE19B-C951-4F9D-8C40-4C06FB218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28950"/>
            <a:ext cx="762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5F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6F24F8-FC86-4645-8837-91A2EF81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200400"/>
            <a:ext cx="2762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Improved citizen service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DD12379-0792-47AB-BEF4-90F71E39D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86150"/>
            <a:ext cx="2762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Clearer status and faster response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7D1E8A-8DEA-494F-B174-1BEE2AAF7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7959D34-B9B1-42AA-80CD-2DBB0B067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98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LDA AI Verification System | Confidential Review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6BD7406-BE13-4650-A899-75D19B6AF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1987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856948738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68A7443-110C-4A65-BA96-A07135709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1FF458-BEDE-497D-A118-902D251B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FAD5FF-FE18-4CF9-A871-3C6C1C68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25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6254D"/>
                </a:solidFill>
                <a:latin typeface="Aptos Display"/>
                <a:ea typeface="Aptos Display"/>
                <a:cs typeface="Aptos Display"/>
              </a:rPr>
              <a:t>Resource Benefits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AA3BDC-DE5E-4051-A19C-0611F98A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AI pre-scrutiny lets the department scale review capacity without proportional staff growth.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2875B09-3E7F-4F2A-9318-F0BA7F324E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71625"/>
            <a:ext cx="4619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C308A84-562C-40B2-A23B-A6774675B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57162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858D9A-BABD-400C-A328-73E81D8181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743075"/>
            <a:ext cx="423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Less repetitive checking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A108C2-FF6A-417D-8C5E-875DD0672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2028825"/>
            <a:ext cx="42386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Measurements, layers and report checks move into pre-scrutiny.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F632F6-A7B1-4B17-88F2-442F2412C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71625"/>
            <a:ext cx="4619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A91E97-FF63-4FDD-8BB2-B9884BCB9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57162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5F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C2A7D5-8DFD-4191-9642-55EBF03B5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743075"/>
            <a:ext cx="423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Officers focus on exceptions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C0446C0-567C-4421-AF0D-7C9988130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028825"/>
            <a:ext cx="42386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Human effort shifts to ambiguous, high-risk and policy-sensitive cases.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C105B1-8314-4E5A-9BD7-E1973A816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90875"/>
            <a:ext cx="4619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E7C28F-25BF-4B15-B383-58D4F71D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19087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60AC63-7FC6-40C6-92FE-D0B0D0A5C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362325"/>
            <a:ext cx="423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Reduced back-and-forth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743944-6D4B-4D2B-894C-1ADF4ECF4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3648075"/>
            <a:ext cx="42386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Applicant issues can be identified earlier with structured observations.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D4B8F4-7FD0-4FBE-9EA3-F5C2ADD8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90875"/>
            <a:ext cx="4619625" cy="1190625"/>
          </a:xfrm>
          <a:prstGeom xmlns:a="http://schemas.openxmlformats.org/drawingml/2006/main" prst="roundRect">
            <a:avLst>
              <a:gd name="adj" fmla="val 64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D35BBC-03E0-4E14-A21E-6420CEA5D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90875"/>
            <a:ext cx="762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5F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2CCBC17-7F86-4A2C-9B59-ACEC376E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62325"/>
            <a:ext cx="4238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Better workload distribution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27ADBA2-08BF-45CF-A8F0-0C3342DA3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648075"/>
            <a:ext cx="4238625" cy="638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Cases can be triaged by confidence, risk and review status.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62C205-5E3B-45F0-A093-8A3746D42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27A7E9-135C-4F63-90D1-7E67E1A19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98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LDA AI Verification System | Confidential 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2EFA1F-655B-4D7B-AA64-7B3599DC6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1987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83114608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EB34D1B-C8AE-47C0-BB06-E93193B91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5CDBFE0-36C6-4C45-8965-7FCA9170A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922DA9C-4C48-4600-8370-470407939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25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6254D"/>
                </a:solidFill>
                <a:latin typeface="Aptos Display"/>
                <a:ea typeface="Aptos Display"/>
                <a:cs typeface="Aptos Display"/>
              </a:rPr>
              <a:t>Where We Stand Today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15442F-991E-47ED-9FB1-1FCA03FED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 working implementation already covers the main public submission and officer review surfaces.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EA6F78-7FD7-4BA4-958C-244F50536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638300"/>
            <a:ext cx="2714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184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15303F1-E32F-43B5-90C3-5425B3EB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1714500"/>
            <a:ext cx="25241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B5FA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B5FAA"/>
                </a:solidFill>
                <a:latin typeface="Aptos"/>
                <a:ea typeface="Aptos"/>
                <a:cs typeface="Aptos"/>
              </a:rPr>
              <a:t>Applicant CAD upload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1F0727-F439-41AB-B574-A60B39D0B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638300"/>
            <a:ext cx="2714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FF4EA"/>
          </a:solidFill>
          <a:ln xmlns:a="http://schemas.openxmlformats.org/drawingml/2006/main" w="9525">
            <a:solidFill>
              <a:srgbClr val="1184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745279F-9D68-4232-BA8D-D69C8AEB5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1714500"/>
            <a:ext cx="25241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84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845B"/>
                </a:solidFill>
                <a:latin typeface="Aptos"/>
                <a:ea typeface="Aptos"/>
                <a:cs typeface="Aptos"/>
              </a:rPr>
              <a:t>Pre-scrutiny confidence screen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A7CD92-261D-46C9-AF12-A767FF1D0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1638300"/>
            <a:ext cx="2714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FF4EA"/>
          </a:solidFill>
          <a:ln xmlns:a="http://schemas.openxmlformats.org/drawingml/2006/main" w="9525">
            <a:solidFill>
              <a:srgbClr val="1184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8A7927-16E6-4472-AB17-5D6E7C2BA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714500"/>
            <a:ext cx="25241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84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845B"/>
                </a:solidFill>
                <a:latin typeface="Aptos"/>
                <a:ea typeface="Aptos"/>
                <a:cs typeface="Aptos"/>
              </a:rPr>
              <a:t>Document upload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01F759-EF4D-48FE-9ECD-B9F5E1530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552700"/>
            <a:ext cx="2714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184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5C1529-E7D0-4012-8671-AB3DFEAB4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628900"/>
            <a:ext cx="25241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B5FA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B5FAA"/>
                </a:solidFill>
                <a:latin typeface="Aptos"/>
                <a:ea typeface="Aptos"/>
                <a:cs typeface="Aptos"/>
              </a:rPr>
              <a:t>AI scrutiny report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B99F93-3B21-46A3-A0BB-1E14CC711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2552700"/>
            <a:ext cx="2714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FF4EA"/>
          </a:solidFill>
          <a:ln xmlns:a="http://schemas.openxmlformats.org/drawingml/2006/main" w="9525">
            <a:solidFill>
              <a:srgbClr val="1184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FEE502-3B48-48DC-917C-4A42E9828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28900"/>
            <a:ext cx="25241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84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845B"/>
                </a:solidFill>
                <a:latin typeface="Aptos"/>
                <a:ea typeface="Aptos"/>
                <a:cs typeface="Aptos"/>
              </a:rPr>
              <a:t>Officer dashboard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FAFE732-0C8D-4BF1-A69D-C313F25883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552700"/>
            <a:ext cx="2714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FF4EA"/>
          </a:solidFill>
          <a:ln xmlns:a="http://schemas.openxmlformats.org/drawingml/2006/main" w="9525">
            <a:solidFill>
              <a:srgbClr val="1184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50F9D1-AA41-4FAE-BC2E-0A27BD7A9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628900"/>
            <a:ext cx="25241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84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845B"/>
                </a:solidFill>
                <a:latin typeface="Aptos"/>
                <a:ea typeface="Aptos"/>
                <a:cs typeface="Aptos"/>
              </a:rPr>
              <a:t>CAD layer viewer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1379282-A0CF-497F-B299-9A0B4FB30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67100"/>
            <a:ext cx="2714625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1845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CFDE055-4BE3-47A9-A6E6-D77ADE28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543300"/>
            <a:ext cx="25241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B5FA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B5FAA"/>
                </a:solidFill>
                <a:latin typeface="Aptos"/>
                <a:ea typeface="Aptos"/>
                <a:cs typeface="Aptos"/>
              </a:rPr>
              <a:t>AI vs officer decision comparison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A1AC148-76A4-4D29-9F91-7977F51C7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A8D156-5EB6-4114-B277-7E0067069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98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LDA AI Verification System | Confidential Review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B968B8-7DDD-410A-BDBC-00D7BC446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1987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1273175698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54E4205-FA87-4CE7-93AC-80D03BE3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827023-5D98-4524-85B7-D5E7F74FC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F01D0B4-D7E3-4B6B-9FB6-31B9C9B6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25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6254D"/>
                </a:solidFill>
                <a:latin typeface="Aptos Display"/>
                <a:ea typeface="Aptos Display"/>
                <a:cs typeface="Aptos Display"/>
              </a:rPr>
              <a:t>Screenshots / Demo Flow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6614E3F-6A2B-4764-8D38-92474345D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Final review deck should use real product screenshots for each major workflow state.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E0FC4D8-63CC-40FA-8AE9-4B761F2B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04950"/>
            <a:ext cx="30289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1AA9F5-0084-4B83-BD91-7453AE3D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676400"/>
            <a:ext cx="2686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CBD8E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06459CF-6E24-4F7C-800B-431B5116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952625"/>
            <a:ext cx="2533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SCREENSHOT PLACEHOLDER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9B1E39-1DF1-45B6-9FC3-68B275780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14600"/>
            <a:ext cx="2686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Applicant upload screen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8B9A14-B02D-4C23-AC56-0D45B2BDF7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04950"/>
            <a:ext cx="30289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11962D-6275-4887-BDB9-4942E0DAC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676400"/>
            <a:ext cx="2686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CBD8E5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4EEFF8-B1B0-451C-BF74-987FDE9E7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1952625"/>
            <a:ext cx="2533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SCREENSHOT PLACEHOLDER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CD427E-98C2-40EA-96CD-0CF5DED2B8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514600"/>
            <a:ext cx="2686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AI pre-scrutiny popup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9A81FE-FA0C-447A-BAB4-1377A6DF1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504950"/>
            <a:ext cx="30289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C5BD93-4BA6-4216-9543-D19F28A1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676400"/>
            <a:ext cx="2686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CBD8E5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73660C-3845-4C7B-A1F3-CEEC8EC5A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1952625"/>
            <a:ext cx="2533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SCREENSHOT PLACEHOLDER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5DE1F8-B3C7-4277-845A-AD771F8339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514600"/>
            <a:ext cx="2686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Map verification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ABFD56-7BE7-4D59-A2FC-A7D7C8FC0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314700"/>
            <a:ext cx="30289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7C0302-6F85-49EF-8C57-CE0D56EB1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2686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CBD8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54A8EE-35E1-41BC-BFF6-281D2C5A1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762375"/>
            <a:ext cx="2533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SCREENSHOT PLACEHOLDER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3F972FF-36B0-47BA-8EC2-9DC5BF6EF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324350"/>
            <a:ext cx="2686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AI scrutiny report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E19B6E-2DE2-4ADD-A942-5C17747D9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314700"/>
            <a:ext cx="30289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92A0867-B0E2-4BFD-8FE6-0778A1CDC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486150"/>
            <a:ext cx="2686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CBD8E5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E98C81-417D-4AFF-85DC-A66819174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62375"/>
            <a:ext cx="2533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SCREENSHOT PLACEHOLDER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E072A5-DBE8-47DA-B95F-385A4F9DC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324350"/>
            <a:ext cx="2686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AD ePermit dashboard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0995D40-FA7D-4997-B868-AC652A1FD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14700"/>
            <a:ext cx="30289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7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2D5953A-9F2E-48B7-BE7E-E05B4DC5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3486150"/>
            <a:ext cx="26860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4F8"/>
          </a:solidFill>
          <a:ln xmlns:a="http://schemas.openxmlformats.org/drawingml/2006/main" w="9525">
            <a:solidFill>
              <a:srgbClr val="CBD8E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A3ADBB3-E25C-4E59-A342-F664B8C4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762375"/>
            <a:ext cx="2533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SCREENSHOT PLACEHOLDER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D4A623D-F794-4565-B3F8-E09C7CC34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324350"/>
            <a:ext cx="2686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CAD viewer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6E9F8F7-16E8-44C0-8E9D-901219FC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2DE3821-26D9-4FA8-A9C6-F091C38B8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98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LDA AI Verification System | Confidential Review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80711C5-9982-4AC6-8AC1-CACA51FE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1987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772818344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BB360CC-4244-4B46-829F-2F72F8D72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105B8A-A5B3-429F-932E-BC5D9EB4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1806D-1C64-4409-856F-8BC6B5884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25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6254D"/>
                </a:solidFill>
                <a:latin typeface="Aptos Display"/>
                <a:ea typeface="Aptos Display"/>
                <a:cs typeface="Aptos Display"/>
              </a:rPr>
              <a:t>AI Scrutiny Report Overview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87997D-B9B1-49D0-B7F7-7B2548F32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report is designed as officer-ready evidence, not a black-box AI answer.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C674C0D-3F4C-4AE3-A30B-7E8CD7148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3048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A75BB1-0D51-4AA4-8C29-A9EAF512C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71625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3DC0F9-A273-47C3-8F87-8D91202FE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43075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Overall recommendation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910820-A1BA-463A-8421-EDDA8EDE6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28825"/>
            <a:ext cx="2667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Shown as structured report evidence for officer review.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72D743-AB6B-4C92-9866-CD91E8D6A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71625"/>
            <a:ext cx="3048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390923-E1CB-4347-B0E2-1AACC478B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571625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5F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7780AF-030C-4796-882B-A3369125F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1743075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Confidence score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FDC71B-7AD9-4146-ADF3-2DDAAF16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028825"/>
            <a:ext cx="2667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Shown as structured report evidence for officer review.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1D71A20-9F3E-423F-A7CF-AD585A34A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1625"/>
            <a:ext cx="3048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478F5B-1185-43FF-A55D-9A8EFC44A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71625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AE02123-046A-4157-A899-623D9FA6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743075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CAD quality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3353992-137D-45E4-9936-5056C04E9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28825"/>
            <a:ext cx="2667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Shown as structured report evidence for officer review.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91069B-A2F6-4C4E-A548-FEF951D7C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3048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059C645-B69C-4C82-B25E-F2F59A694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4800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5F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E80968-2DBA-45BC-9FD8-DD85E019C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Text layer checks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F5C2EC-0E1C-4B92-A59B-9932939CB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05200"/>
            <a:ext cx="2667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Shown as structured report evidence for officer review.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978078C-8408-42BB-B9BF-47E0C97CC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48000"/>
            <a:ext cx="3048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5AF5ED1-9C60-4282-B106-D42B90BBF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04800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F5FD79-C645-4619-A255-4545E2D64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2194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Extracted measurements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4FAEC47-7AF3-4A73-96DF-EEEDC2DD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3505200"/>
            <a:ext cx="2667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Shown as structured report evidence for officer review.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19BC2D1-3539-4D56-AB80-F55BE125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48000"/>
            <a:ext cx="30480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4C3F6B-2A5A-4D56-9748-6EA7843FE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048000"/>
            <a:ext cx="76200" cy="1000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5F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0D5B662-C960-4656-B346-D7350178B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2194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Rule-by-rule pass/fail/manual review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BCF41CF-F763-4E84-B977-49365A257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505200"/>
            <a:ext cx="2667000" cy="447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Shown as structured report evidence for officer review.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4E780A-86E0-495C-AC55-EFBADB945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289E40-EA3B-4160-B1B3-49369E4BB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98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LDA AI Verification System | Confidential Review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8DE491-E0E6-4AC4-9D15-8BB4111CE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1987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00318687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104E957-F23B-427D-B2F6-36EDE2BB5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5EC364-1D46-456B-B728-7C971C02C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8A85530-FE48-4677-B547-6C9BEE45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25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6254D"/>
                </a:solidFill>
                <a:latin typeface="Aptos Display"/>
                <a:ea typeface="Aptos Display"/>
                <a:cs typeface="Aptos Display"/>
              </a:rPr>
              <a:t>Strategic Advantage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F20478-59D4-4213-8EFE-93A5E9FFD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LDA can establish a first-mover model for CAD-based AI scrutiny across local authorities.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FAB63A9-47FE-4D3B-922C-4CBE421B5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62100"/>
            <a:ext cx="4381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FF4EA"/>
          </a:solidFill>
          <a:ln xmlns:a="http://schemas.openxmlformats.org/drawingml/2006/main" w="9525">
            <a:solidFill>
              <a:srgbClr val="1184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A79EF4-1E1A-4A14-9DAA-D097AF2A0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38300"/>
            <a:ext cx="419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84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845B"/>
                </a:solidFill>
                <a:latin typeface="Aptos"/>
                <a:ea typeface="Aptos"/>
                <a:cs typeface="Aptos"/>
              </a:rPr>
              <a:t>First-mover position in CAD-based AI scrutiny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527A5E-47A3-4A3D-9260-335494E86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62100"/>
            <a:ext cx="4381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184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C0B7CA-A84D-4B29-9615-29CA4BDF0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38300"/>
            <a:ext cx="419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B5FA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B5FAA"/>
                </a:solidFill>
                <a:latin typeface="Aptos"/>
                <a:ea typeface="Aptos"/>
                <a:cs typeface="Aptos"/>
              </a:rPr>
              <a:t>Lower adoption cost than BIM-only systems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8944797-D467-4A94-8BB1-9892D69AC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4381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FF4EA"/>
          </a:solidFill>
          <a:ln xmlns:a="http://schemas.openxmlformats.org/drawingml/2006/main" w="9525">
            <a:solidFill>
              <a:srgbClr val="1184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B50EB6E-4304-4033-9AC8-28C5AD4F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419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84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845B"/>
                </a:solidFill>
                <a:latin typeface="Aptos"/>
                <a:ea typeface="Aptos"/>
                <a:cs typeface="Aptos"/>
              </a:rPr>
              <a:t>Faster implementation in existing ePermit 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0E2A3E8-14E6-4318-8E60-877DB6FEC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24100"/>
            <a:ext cx="4381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184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AF3C403-8D5E-4517-9916-8C6F044E5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419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B5FA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B5FAA"/>
                </a:solidFill>
                <a:latin typeface="Aptos"/>
                <a:ea typeface="Aptos"/>
                <a:cs typeface="Aptos"/>
              </a:rPr>
              <a:t>Better fit for local architects and officers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C52F7E3-0B86-4E7E-9C95-E0457B4EF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4381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FF4EA"/>
          </a:solidFill>
          <a:ln xmlns:a="http://schemas.openxmlformats.org/drawingml/2006/main" w="9525">
            <a:solidFill>
              <a:srgbClr val="1184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8D33CC-7F20-4B3C-A3E9-19BC12664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419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84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845B"/>
                </a:solidFill>
                <a:latin typeface="Aptos"/>
                <a:ea typeface="Aptos"/>
                <a:cs typeface="Aptos"/>
              </a:rPr>
              <a:t>Scalable for other authorities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4B6F70-2D6E-41B2-8BFA-3BE6725125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4381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184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2367AD-C1E4-46AA-9368-DB774C622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62300"/>
            <a:ext cx="419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B5FA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B5FAA"/>
                </a:solidFill>
                <a:latin typeface="Aptos"/>
                <a:ea typeface="Aptos"/>
                <a:cs typeface="Aptos"/>
              </a:rPr>
              <a:t>Future-ready for BIM/Revit integration later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054962-7140-4FE8-8BF9-93CE7E74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D936FD-4ACD-4E6D-9167-982C9E377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98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LDA AI Verification System | Confidential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AE406A0-A35D-4D24-AA5E-F1CFABAF4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1987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528652427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77DBC90-37DC-4AF1-8187-8A66F9C5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0E8F25E-846B-4CBC-925E-04E313FA8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7E5CAA-4E68-46DA-8A53-0B5F79DD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25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6254D"/>
                </a:solidFill>
                <a:latin typeface="Aptos Display"/>
                <a:ea typeface="Aptos Display"/>
                <a:cs typeface="Aptos Display"/>
              </a:rPr>
              <a:t>Challenges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F50069-E887-4101-B5C2-A87795772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Known implementation risks are manageable through standards, feedback loops and phased rollout.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D0B334-5F47-4BFB-A423-3AB8610D2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00037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2ED7D0-D2DC-4F94-85EE-1E61A4A7F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479E905-D11B-4AE5-9C9B-A4D2311D8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76400"/>
            <a:ext cx="2619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Missing CAD layers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F5EE60-90E9-44E7-853E-D84339E3E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962150"/>
            <a:ext cx="2619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Requires standards, training and feedback loop.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A21E31C-78E5-477F-BE10-B273133C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04950"/>
            <a:ext cx="300037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388214-A642-41A7-9ACF-C57D2C408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5049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5F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4D86C3-BF8F-4F27-BDF0-0C1B7234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676400"/>
            <a:ext cx="2619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Absent text layers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BB7021-1812-46EF-96A5-E40FB9920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1962150"/>
            <a:ext cx="2619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Requires standards, training and feedback loop.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B1DB4A-93F4-4B12-B548-41D1A3306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04950"/>
            <a:ext cx="300037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956E383-575A-43D8-8B44-95B95E1AC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049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918F4B4-F11E-4A22-8E40-B8CA901D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76400"/>
            <a:ext cx="2619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Different drawing standards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D4ED7F-12FA-46CD-AECE-84E88F33D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62150"/>
            <a:ext cx="2619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Requires standards, training and feedback loop.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5FC10F-A110-4F09-B64C-CA4755B23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300037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6D7DD4-191F-4BD4-9D6E-26A910E5E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051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5F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0C36E2C-BD4A-49A7-8F8B-93C8291AE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76600"/>
            <a:ext cx="2619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Officer feedback requirement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CF5CC2-13F0-49D0-A598-562C1496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2619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Requires standards, training and feedback loop.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FD1D1BC-A715-4124-8528-E034F5954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05150"/>
            <a:ext cx="300037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4388AAE-FF97-4992-957A-971AE8205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31051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03F03D2-8593-4D48-B517-E34C6CD32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276600"/>
            <a:ext cx="2619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Integration dependencies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96A3F82-AF59-4B90-9A35-C5B7D2EDD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562350"/>
            <a:ext cx="2619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Requires standards, training and feedback loop.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3B283FE-E485-48CF-ABE3-4265A88E8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05150"/>
            <a:ext cx="300037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69FB1D-7C43-4F30-A821-88A1C6826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1051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5F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0477EDB-8D4C-4E83-9641-2263D10E8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76600"/>
            <a:ext cx="2619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Change management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90C9D34-257F-41E3-9B93-7F7251CF4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562350"/>
            <a:ext cx="2619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Requires standards, training and feedback loop.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93ED1BD-D145-4BD0-8918-7C60B7066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300037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8B8C75B-E2D3-4E7C-884B-28387301F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053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A0CA02-48E6-4015-B9FC-217540535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876800"/>
            <a:ext cx="2619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Training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2277668-42F2-4EB1-9B30-41C6C77D0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162550"/>
            <a:ext cx="2619375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Requires standards, training and feedback loop.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BB7B2F-ECF2-4360-99C2-2AC47237E1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F60F1B0-AB35-4256-94A3-BE3487A90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98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LDA AI Verification System | Confidential Review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D57A48-BB76-4750-B2C9-2295B21CC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1987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169828001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59621DC-9AA6-4A83-B8B5-A7EF27BFB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1EBD5C-D7B0-403E-A4ED-31E894633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2C624D-DEDC-4ABF-860D-7F3C7951D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25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6254D"/>
                </a:solidFill>
                <a:latin typeface="Aptos Display"/>
                <a:ea typeface="Aptos Display"/>
                <a:cs typeface="Aptos Display"/>
              </a:rPr>
              <a:t>Steps of Implementation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BF1E59F-DF2F-41D0-8450-6725AF463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 phased approach reduces operational risk while improving the rule engine with real feedback.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29DB1D-B859-43F4-B2E8-1ECC3F4F0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0500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B1A8F7-18E8-43FA-B42D-D1B5DCFE4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Phase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EA06EB-7ED7-4190-B276-B2A4B8BF9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52700"/>
            <a:ext cx="1028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Pilot selected cases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A6B50C-63CB-442B-B3EA-09063EC26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90500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34EEEE9-28E8-402B-B5DC-ACFA8C74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675" y="226695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Phase 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EF9638E-864D-43A4-AA3F-FBF8CDDD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95575" y="2552700"/>
            <a:ext cx="1028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Officer review and feedback loop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A88942-D3B9-4A49-8B2B-556402C52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90500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5F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F3BFA4-5AFB-4B1D-A4A8-3099EC778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26695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Phase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EC9D835-13FE-4410-92CF-60E913758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552700"/>
            <a:ext cx="1028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Rule engine refinement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7A60F3-C002-47A5-A037-677EB9041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7425" y="190500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B5F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6A22A63-87B6-4771-B907-197986A40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7925" y="226695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Phase 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A2BC8D6-08B8-4998-942B-660A5FFC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9825" y="2552700"/>
            <a:ext cx="1028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GIS and document integration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C844F2-8ED4-4325-9DC5-B5A6B3598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90500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2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93AB26-5BF6-4666-95D8-1C46486B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226695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Phase 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B7C08C-5C7E-48C9-83BA-6791EF2B8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52700"/>
            <a:ext cx="1028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Full ePermit rollout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719157-E633-4647-9D9F-6B12AD9DC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1675" y="1905000"/>
            <a:ext cx="1333500" cy="1333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2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A825A0F-C5FC-4BE1-9E7C-90FE583BE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2175" y="2266950"/>
            <a:ext cx="952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Phase 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E726243-F425-47D1-A0D2-2A3FD9EE0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2552700"/>
            <a:ext cx="10287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Continuous AI improvement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DC952FB-21C9-40BC-B45C-FAA73BC67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72407F-21AF-4C80-8477-4E56BD607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98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LDA AI Verification System | Confidential Review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058F864-B6AB-40F7-BB15-F9B89597D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1987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44921563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1D0818-8294-4DB7-B997-885E6CDF4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352894-56E1-4806-AA59-6E23E1F4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D903D-5071-4799-B14D-EFBD2291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25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6254D"/>
                </a:solidFill>
                <a:latin typeface="Aptos Display"/>
                <a:ea typeface="Aptos Display"/>
                <a:cs typeface="Aptos Display"/>
              </a:rPr>
              <a:t>Governance &amp; Human Review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AF2F497-56AD-45E4-A7E1-84DD9A5CD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system assists decisions; it does not replace statutory authority.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8122A9-7E1D-4920-AD43-E3A7316A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4000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787ED42-5E99-4CDA-A65B-0A82863AF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619250"/>
            <a:ext cx="762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5F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362280-B5DA-4232-9E5A-44FC3D466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17907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AI gives recommendation only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540498-1212-432C-860E-6ED9DC69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076450"/>
            <a:ext cx="3619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Designed for transparent decision support.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6CC836-372F-44B6-A9D8-E469DEC55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4000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6871A8-0F0C-4AAD-8371-A9AB99E13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619250"/>
            <a:ext cx="762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0147D9-E372-40DB-951F-5C15D1AFA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1790700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Officer remains final authority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47A5F9-548D-4593-B134-813C38E45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076450"/>
            <a:ext cx="3619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Statutory accountability remains with the reviewing authority.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7E1550C-EA05-4597-AA2E-775249BFA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90875"/>
            <a:ext cx="4000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B3C31E-EBF7-4283-8AA4-7809260FC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90875"/>
            <a:ext cx="762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5F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2879E1-FF86-4FC5-B8CB-B403AF8DA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362325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Every decision is logged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F085D4-4303-4BD9-B9D5-AAB328CD0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648075"/>
            <a:ext cx="3619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Designed for transparent decision support.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EF4970-C3E9-44E7-9BC5-1D6EAC309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90875"/>
            <a:ext cx="400050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D6A1271-68FC-43D1-BF48-E3CFCA56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190875"/>
            <a:ext cx="76200" cy="1095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44E23C-A2DB-4857-B8AB-D6C2E1E70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62325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Manual override allowed with remarks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2B421C0-1A3F-450E-A7F3-32932C8F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648075"/>
            <a:ext cx="3619500" cy="542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Designed for transparent decision support.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DA874F-11EA-4EFE-ABD1-568EDAAE5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F38401-8FFE-4CDE-B44E-1EF0E748D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98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LDA AI Verification System | Confidential Review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9E29A2B-0142-4C23-B293-0C1746904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1987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405536273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76D9388-331C-4637-8E8E-2CE236F56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692507-3064-447A-B9DD-D3B4E3CF0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661494-3D98-49F4-8A6F-7B491540C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25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6254D"/>
                </a:solidFill>
                <a:latin typeface="Aptos Display"/>
                <a:ea typeface="Aptos Display"/>
                <a:cs typeface="Aptos Display"/>
              </a:rPr>
              <a:t>Expected Impact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D4B500-892B-499B-875B-A98DBBC48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A practical CAD-based AI layer can improve speed, transparency and compliance outcomes.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5430B0-7E58-45CE-AB3D-167A2602C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24000"/>
            <a:ext cx="300037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E053C30-2AD7-4723-9D7D-0D9DC5DDD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2400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034C22-B8C5-47E8-8232-C7801F9B7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695450"/>
            <a:ext cx="2619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Reduced scrutiny time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B4E763-A1D5-47AF-87F0-5239E7587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1981200"/>
            <a:ext cx="2619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Earlier triage and automated report preparation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7430F9-45B4-4255-9FB9-A10E7E876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524000"/>
            <a:ext cx="300037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846518-63AA-4F5F-83B5-A8FDB7330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152400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5F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CAFD79-BCA9-4EAF-A49E-BB2A74D95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695450"/>
            <a:ext cx="2619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Improved transparency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5EDE483-4C28-4253-BEF6-9EFFE8854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1981200"/>
            <a:ext cx="2619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Rule-wise evidence and confidence scores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A3B289-CC94-4694-BADB-D612CDA7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24000"/>
            <a:ext cx="300037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365CB36-9673-4EFA-898E-B23AE9DF5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2400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B50D142-E5DE-4FE0-9E06-A52AE7C97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695450"/>
            <a:ext cx="2619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Faster citizen response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9F14BC-3B29-480D-9BC0-A746FCDBB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981200"/>
            <a:ext cx="2619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Clearer application status and observations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9838AF-EFDC-4E36-B7D8-D1FF83CE9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300037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82A0CF1-E9BF-4BF2-BCB4-42F301C6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4800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5FA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A5396E0-7D29-4D80-BD88-934EEA60B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19450"/>
            <a:ext cx="2619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Better compliance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61ED6E-C057-4814-8C79-BE7A2FB9A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505200"/>
            <a:ext cx="2619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Standardized rule checks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7A67F2-C6E5-41DA-9C7C-6351524D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048000"/>
            <a:ext cx="3000375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7E0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BF864E-E1AC-4366-B44D-D8858FF20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1975" y="3048000"/>
            <a:ext cx="76200" cy="1104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6056B7D-D978-43DA-B6A6-51B20474C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219450"/>
            <a:ext cx="261937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0625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6254D"/>
                </a:solidFill>
                <a:latin typeface="Aptos"/>
                <a:ea typeface="Aptos"/>
                <a:cs typeface="Aptos"/>
              </a:rPr>
              <a:t>Lower workload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AA3F20B-AD7B-4ABB-8EA2-C8D93972A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505200"/>
            <a:ext cx="2619375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15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915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Less repetitive plan checking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4218575-883F-4311-8606-EC80FE2E1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2B3A35-EF5D-42BA-98CE-7D401B81B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98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LDA AI Verification System | Confidential Review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71EDB39-D1C6-4798-BDE9-8A0DA40F0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1987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</p:spTree>
    <p:extLst>
      <p:ext uri="{BB962C8B-B14F-4D97-AF65-F5344CB8AC3E}">
        <p14:creationId xmlns:p14="http://schemas.microsoft.com/office/powerpoint/2010/main" val="1980784105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8B84F04-DD14-4DC3-AF7B-0B2A31F26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2435FB-8C80-428E-AC3F-A2378F453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221A5C7-3AF9-4892-BB5E-BAE3E7DB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25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6254D"/>
                </a:solidFill>
                <a:latin typeface="Aptos Display"/>
                <a:ea typeface="Aptos Display"/>
                <a:cs typeface="Aptos Display"/>
              </a:rPr>
              <a:t>Final Roadmap / Way Forward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821EF70-C5E0-4D4C-A6C5-EED84FCC3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8382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4748B"/>
                </a:solidFill>
                <a:latin typeface="Aptos"/>
                <a:ea typeface="Aptos"/>
                <a:cs typeface="Aptos"/>
              </a:rPr>
              <a:t>The next workstream should move from working system to controlled pilot evidence.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F780D6-7FF5-457C-9B76-979B5D0B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62100"/>
            <a:ext cx="4381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FF4EA"/>
          </a:solidFill>
          <a:ln xmlns:a="http://schemas.openxmlformats.org/drawingml/2006/main" w="9525">
            <a:solidFill>
              <a:srgbClr val="11845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E60CE7-0768-494B-8883-972AE1A7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38300"/>
            <a:ext cx="419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84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845B"/>
                </a:solidFill>
                <a:latin typeface="Aptos"/>
                <a:ea typeface="Aptos"/>
                <a:cs typeface="Aptos"/>
              </a:rPr>
              <a:t>Complete officer feedback module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CB135A-0DA5-465A-B8C4-335070AB7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1562100"/>
            <a:ext cx="4381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1845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477333-67F0-4C01-913C-D696E7A38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638300"/>
            <a:ext cx="419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B5FA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B5FAA"/>
                </a:solidFill>
                <a:latin typeface="Aptos"/>
                <a:ea typeface="Aptos"/>
                <a:cs typeface="Aptos"/>
              </a:rPr>
              <a:t>Improve CAD layer selection UX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4DB40-9D70-4DB4-9592-5066603E2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24100"/>
            <a:ext cx="4381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FF4EA"/>
          </a:solidFill>
          <a:ln xmlns:a="http://schemas.openxmlformats.org/drawingml/2006/main" w="9525">
            <a:solidFill>
              <a:srgbClr val="11845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454C4A7-E138-4314-8385-51FDAB4FE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400300"/>
            <a:ext cx="419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84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845B"/>
                </a:solidFill>
                <a:latin typeface="Aptos"/>
                <a:ea typeface="Aptos"/>
                <a:cs typeface="Aptos"/>
              </a:rPr>
              <a:t>Add Google Places search where plot signal is missing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D47269-FB86-431D-B65E-416105C40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324100"/>
            <a:ext cx="4381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1845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ED733C3-EDB9-465E-80A8-5D52A1A07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400300"/>
            <a:ext cx="419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B5FA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B5FAA"/>
                </a:solidFill>
                <a:latin typeface="Aptos"/>
                <a:ea typeface="Aptos"/>
                <a:cs typeface="Aptos"/>
              </a:rPr>
              <a:t>Strengthen AI confidence logic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530860A-85F7-4C1A-AEF8-55C7916CB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86100"/>
            <a:ext cx="4381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DFF4EA"/>
          </a:solidFill>
          <a:ln xmlns:a="http://schemas.openxmlformats.org/drawingml/2006/main" w="9525">
            <a:solidFill>
              <a:srgbClr val="11845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7AA92A-8680-42BD-AF51-D73D2176D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162300"/>
            <a:ext cx="419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1845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1845B"/>
                </a:solidFill>
                <a:latin typeface="Aptos"/>
                <a:ea typeface="Aptos"/>
                <a:cs typeface="Aptos"/>
              </a:rPr>
              <a:t>Improve chatbot/rule assistant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550935-296B-466A-8D28-40AA7D244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3086100"/>
            <a:ext cx="43815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AF2FF"/>
          </a:solidFill>
          <a:ln xmlns:a="http://schemas.openxmlformats.org/drawingml/2006/main" w="9525">
            <a:solidFill>
              <a:srgbClr val="11845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9E11108-ACF0-41C6-9CCF-118FF2528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162300"/>
            <a:ext cx="4191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B5FAA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1B5FAA"/>
                </a:solidFill>
                <a:latin typeface="Aptos"/>
                <a:ea typeface="Aptos"/>
                <a:cs typeface="Aptos"/>
              </a:rPr>
              <a:t>Prepare pilot report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A25355-344A-43D2-8481-8CBD98713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E9DF06-4615-4E2A-815D-4C1A667BA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98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LDA AI Verification System | Confidential Review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C218992-239C-4F49-9193-C7A89D962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1987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21</a:t>
            </a:r>
          </a:p>
        </p:txBody>
      </p:sp>
    </p:spTree>
    <p:extLst>
      <p:ext uri="{BB962C8B-B14F-4D97-AF65-F5344CB8AC3E}">
        <p14:creationId xmlns:p14="http://schemas.microsoft.com/office/powerpoint/2010/main" val="1874062082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9DCFDCB-45A6-4071-BEF5-77CA3CB4E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2A1804-7F92-4346-81BF-2B181714D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845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3892C25-EFBB-4AF6-96A2-3828E8ADB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1000"/>
            <a:ext cx="7524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625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06254D"/>
                </a:solidFill>
                <a:latin typeface="Aptos Display"/>
                <a:ea typeface="Aptos Display"/>
                <a:cs typeface="Aptos Display"/>
              </a:rPr>
              <a:t>Towards Faster, Transparent &amp; Intelligent Building Plan Approval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040C3-F061-46EB-AB20-CB6D8124E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48992F9-3D9E-4C05-9F74-F507E808C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762125"/>
            <a:ext cx="9906000" cy="876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29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Towards Faster, Transparent &amp; Intelligent Building Plan Approval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5B07B3-2CA8-4EEA-9C89-8FAC2221E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952750"/>
            <a:ext cx="7239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DCECFF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DCECFF"/>
                </a:solidFill>
                <a:latin typeface="Aptos"/>
                <a:ea typeface="Aptos"/>
                <a:cs typeface="Aptos"/>
              </a:rPr>
              <a:t>A locally optimized AI-assisted scrutiny framework built around real-world CAD submissions.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56BD80-8027-43FA-93C8-88B97D25F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4191000"/>
            <a:ext cx="2667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6A06D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16A06D"/>
                </a:solidFill>
                <a:latin typeface="Aptos"/>
                <a:ea typeface="Aptos"/>
                <a:cs typeface="Aptos"/>
              </a:rPr>
              <a:t>Thank you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FDB0E0-765A-4D11-983B-D34974490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496050"/>
            <a:ext cx="12192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25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FC0955-D11E-4E03-8327-7C2215931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619875"/>
            <a:ext cx="476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LDA AI Verification System | Confidential Review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B88D7AB-B139-4D31-B347-A572D58EC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15700" y="6619875"/>
            <a:ext cx="38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22</a:t>
            </a:r>
          </a:p>
        </p:txBody>
      </p:sp>
    </p:spTree>
    <p:extLst>
      <p:ext uri="{BB962C8B-B14F-4D97-AF65-F5344CB8AC3E}">
        <p14:creationId xmlns:p14="http://schemas.microsoft.com/office/powerpoint/2010/main" val="135295348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2026-06-08T14:00:02.7850000Z</dcterms:created>
  <dcterms:modified xsi:type="dcterms:W3CDTF">2026-06-08T14:00:02.7850000Z</dcterms:modified>
</coreProperties>
</file>